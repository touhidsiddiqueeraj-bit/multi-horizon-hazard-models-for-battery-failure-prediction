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Multi-Horizon Hazard Models for</a:t>
            </a:r>
            <a:br/>
            <a:r>
              <a:t>Battery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Within-Dataset Reliability and Cross-Chemistry Transferability</a:t>
            </a:r>
            <a:br/>
            <a:br/>
            <a:r>
              <a:t>Hussain Touhid Siddiquee et al. · Department of EEE, Leading University, Sylhet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The original framework demonstrated feasibility — but several critical questions remain unanswered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Shikdar &amp; Laaksonen (2026): multi-horizon hazard classification on NASA 18650 using HGB — AUC 0.87–0.90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Limited to one model class, one chemistry, no cross-dataset validation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Two open questions: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1. How sensitive are results to model choice (XGBoost, LightGBM, RF) and calibration method?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2. Do models trained on one chemistry (LCO) transfer to another (LFP)?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The Composite Failure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Failure = SOH drop OR voltage sag. Both must cross a per-cell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Two independent failure criteria — either triggers a positive label: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• State-of-Health (SOH) ≤ 0.80 of initial capacity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• Average voltage sag &lt; 94% of early-life baseline (first 10 cycles)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Once triggered, label remains positive for all subsequent cycles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Voltage sag catches impedance-driven failures that precede capacity fade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LFP cells: no useful voltage sag (flat plateau at 2.7 V cutoff)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Datasets &amp;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Cells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Chemistry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Cycles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Cycles/Cell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NASA 18650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Random walk, accelerated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CALCE LCO/CX2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8,733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775–1,952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1C/1C, slow degradation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Oxford LFP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1C/1C, very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Models: XGBoost (depth=4, 300 trees, lr=0.05)  ·  LightGBM (depth=4, 300 trees, lr=0.05)  ·  Random Forest (depth=6, 300 trees)  ·  GRU (1 layer, 8 hidden, W=10, lr=0.005) — compact to avoid overfitting</a:t>
            </a:r>
          </a:p>
          <a:p>
            <a:pPr algn="l" lvl="1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Tree features: cycle, avg/min voltage, avg current, avg temp, duration, SOH</a:t>
            </a:r>
          </a:p>
          <a:p>
            <a:pPr algn="l" lvl="1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GRU features: cycle, avg/min voltage, SOH (cross-chem drops avg_current, avg_temp, duration)</a:t>
            </a:r>
          </a:p>
          <a:p>
            <a:pPr algn="l" lvl="1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All tree-based hyperparameters matched to original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Two parallel experiments: within-dataset reliability + cross-chemistry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Within-dataset: 5-fold GroupKFold by cell — no cell leaks across folds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Horizons: H ∈ {10, 20, 30, 50} — label positive if failure within [t, t+H)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Calibration: isotonic vs Platt (sigmoid) — cross-chem reports raw AUC (calibration unreliable under distribution shift)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Metrics: AUC (discrimination) + Brier score (calibration + discrimination)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Cross-chemistry: train on all LCO, test on all LFP — 3 variants (NASA, CALCE, ALL)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Feature ablation: with SOH vs without SOH — to isolate SOH contribution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1: Within-Dataset AUC (H=20)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1_Within_Dataset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4573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2: Multi-Horizon Performance (NASA)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5_MultiHoriz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7656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3: Platt vs Isotonic — NASA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2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943600" cy="2061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24A33"/>
                </a:solidFill>
                <a:latin typeface="Calibri"/>
              </a:defRPr>
            </a:pPr>
            <a:r>
              <a:t>NASA (left panel of Fig 2):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1A1A2E"/>
                </a:solidFill>
                <a:latin typeface="Calibri"/>
              </a:defRPr>
            </a:pPr>
            <a:r>
              <a:t>Platt AUC: 0.890 vs Isotonic AUC: 0.840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Platt Brier: 0.213 vs Isotonic Brier: 0.214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AUC gap is modest on NASA. Isotonic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partially degrades discrimination 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noisier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3: Platt vs Isotonic — CALCE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2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943600" cy="20614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24A33"/>
                </a:solidFill>
                <a:latin typeface="Calibri"/>
              </a:defRPr>
            </a:pPr>
            <a:r>
              <a:t>CALCE (right panel of Fig 2):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1A1A2E"/>
                </a:solidFill>
                <a:latin typeface="Calibri"/>
              </a:defRPr>
            </a:pPr>
            <a:r>
              <a:t>Platt AUC: 0.904 vs Isotonic AUC: 0.694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AUC gap is dramatic on CALCE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Brier is nearly identical: 0.105 for both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The advantage is in discrimination,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not calibration — isotonic produces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degenerate probabilities on long-tailed data.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Fair comparison: both calibrators use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same underlying model's outputs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4a: Cross-Chemistry Transfer — With SOH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3_CrossChem_With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24734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800" b="1">
                <a:solidFill>
                  <a:srgbClr val="E24A33"/>
                </a:solidFill>
                <a:latin typeface="Calibri"/>
              </a:defRPr>
            </a:pPr>
            <a:r>
              <a:t>Raw AUC 0.84–1.00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Per-cell mean ± std across test cells (trees H=20)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Oxford (5 cells)  → same pattern</a:t>
            </a:r>
          </a:p>
          <a:p>
            <a:pPr algn="l">
              <a:spcBef>
                <a:spcPts val="1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Severson (141 cells) → 0.99+ Platt AUC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NASA→LFP: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0.96–1.00 (σ=0.00–0.03), 0.40 (GRU mean)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CALCE→LFP: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0.84–0.89 (σ=0.00–0.17), 0.32 (GRU mean)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ALL→LFP: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0.98–1.00 (σ=0.00–0.23), 0.26 (GRU mean)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GRU values for CALCE-inclusive sets show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reversal (AUC≈0.03–0.12): CALCE's 92% failure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rate biases the decision boundary → inverted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ranking on Oxford. Not random noise; a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substantive class-imbalance transfer failure.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Distributed state entangles SOH with voltage/cycle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E24A33"/>
                </a:solidFill>
                <a:latin typeface="Calibri"/>
              </a:defRPr>
            </a:pPr>
            <a:r>
              <a:t>BUT — even with SOH, sequence models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24A33"/>
                </a:solidFill>
                <a:latin typeface="Calibri"/>
              </a:defRPr>
            </a:pPr>
            <a:r>
              <a:t>are less able to exploit it than tree-based models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4b: Cross-Chemistry Transfer — Without SOH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4_CrossChem_No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24734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800" b="1">
                <a:solidFill>
                  <a:srgbClr val="E24A33"/>
                </a:solidFill>
                <a:latin typeface="Calibri"/>
              </a:defRPr>
            </a:pPr>
            <a:r>
              <a:t>Raw AUC 0.08–0.62 (incl. GRU)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Per-cell mean ± std (trees H=20)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Oxford raw: 0.33–0.62 | Severson raw: 0.60–0.75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Trees: near-random (0.33–0.75) across all configs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GRU: reversal in CALCE-inclusive sets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(AUC≈0.12–0.43) from class-imbalance-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driven domain mismatch, not random noise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NASA→LFP (tree):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0.52–0.54 (σ=0.00–0.01)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CALCE→LFP (tree):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0.46–0.62 (σ=0.00–0.22)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ALL→LFP (tree):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0.33–0.47 (σ=0.00–0.25)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E24A33"/>
                </a:solidFill>
                <a:latin typeface="Calibri"/>
              </a:defRPr>
            </a:pPr>
            <a:r>
              <a:t>No model class — tree-based or sequence-aware —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24A33"/>
                </a:solidFill>
                <a:latin typeface="Calibri"/>
              </a:defRPr>
            </a:pPr>
            <a:r>
              <a:t>achieves above-chance AUC once SOH is removed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SHAP: XGBoost — SOH Dominates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a_XGBoos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336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SHAP: LightGBM — SOH Dominates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b_LightGBM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33641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SHAP: Random Forest — SOH Dominates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c_RandomForest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3364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SHAP: XGBoost — All Features Collapse Without SOH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d_XGBoost_SHAP_no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3364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SHAP: LightGBM — All Features Collapse Without SOH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e_LightGBM_SHAP_no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3364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SHAP: Random Forest — All Features Collapse Without SOH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6f_RandomForest_SHAP_no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3364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Statistical Significance — DeLong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1A1A2E"/>
                </a:solidFill>
                <a:latin typeface="Calibri"/>
              </a:defRPr>
            </a:pPr>
            <a:r>
              <a:t>DeLong nonparametric test compares paired AUC values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2000" b="1">
                <a:solidFill>
                  <a:srgbClr val="E24A33"/>
                </a:solidFill>
                <a:latin typeface="Calibri"/>
              </a:defRPr>
            </a:pPr>
            <a:r>
              <a:t>SOH Ablation (ALL LCO→LFP, H=20):</a:t>
            </a:r>
          </a:p>
          <a:p>
            <a:pPr algn="l">
              <a:spcBef>
                <a:spcPts val="800"/>
              </a:spcBef>
              <a:defRPr sz="1800" b="1">
                <a:solidFill>
                  <a:srgbClr val="1A1A2E"/>
                </a:solidFill>
                <a:latin typeface="Calibri"/>
              </a:defRPr>
            </a:pPr>
            <a:r>
              <a:t>Oxford (5 cells):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XGBoost:    0.917 → 0.429    p = 7.2×10⁻⁵¹  ✓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LightGBM:   0.971 → 0.332    p = 2.6×10⁻⁶⁴  ✓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Random Forest:  0.989 → 0.581    p = 6.5×10⁻³⁶  ✓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800" b="1">
                <a:solidFill>
                  <a:srgbClr val="1A1A2E"/>
                </a:solidFill>
                <a:latin typeface="Calibri"/>
              </a:defRPr>
            </a:pPr>
            <a:r>
              <a:t>Severson (141 cells):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XGBoost:    0.896 → 0.750    p &lt; 10⁻¹⁰⁰  ✓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LightGBM:   0.882 → 0.718    p &lt; 10⁻¹⁰⁰  ✓</a:t>
            </a:r>
          </a:p>
          <a:p>
            <a:pPr algn="l">
              <a:spcBef>
                <a:spcPts val="4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Random Forest:  0.889 → 0.746    p &lt; 10⁻¹⁰⁰  ✓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defRPr sz="1800" b="1">
                <a:solidFill>
                  <a:srgbClr val="E24A33"/>
                </a:solidFill>
                <a:latin typeface="Calibri"/>
              </a:defRPr>
            </a:pPr>
            <a:r>
              <a:t>All models, both LFP targets: p &lt; 10⁻³⁶ — decisive</a:t>
            </a:r>
          </a:p>
          <a:p>
            <a:pPr algn="l">
              <a:spcBef>
                <a:spcPts val="200"/>
              </a:spcBef>
              <a:defRPr sz="1800" b="0">
                <a:solidFill>
                  <a:srgbClr val="666666"/>
                </a:solidFill>
                <a:latin typeface="Calibri"/>
              </a:defRPr>
            </a:pPr>
            <a:r>
              <a:t>SOH-ablation gap is not due to chance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Within-dataset (CALCE): all model pairs p &lt; 10⁻⁵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Within-dataset (NASA): only XGB vs LGBM reaches p=0.014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Why? The SOH-as-Lookup-Table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When SOH is available as a feature:</a:t>
            </a:r>
            <a:br/>
            <a:br/>
            <a:r>
              <a:t>• Model learns: SOH=0.85 means ~50 cycles to failure</a:t>
            </a:r>
            <a:br/>
            <a:r>
              <a:t>  from LCO training data</a:t>
            </a:r>
            <a:br/>
            <a:br/>
            <a:r>
              <a:t>• LFP cells traverse similar SOH trajectories</a:t>
            </a:r>
            <a:br/>
            <a:br/>
            <a:r>
              <a:t>• Model applies the same learned mapping — predictions correlate with SOH, not with LFP-specific degradation</a:t>
            </a:r>
            <a:br/>
            <a:br/>
            <a:r>
              <a:t>• Result: high AUC, but no actual chemistry transfer</a:t>
            </a:r>
            <a:br/>
            <a:br/>
            <a:r>
              <a:t>When SOH is removed: voltage/current/temperature</a:t>
            </a:r>
            <a:br/>
            <a:r>
              <a:t>patterns alone carry no transferable signal LCO→LFP</a:t>
            </a:r>
            <a:br/>
            <a:br/>
            <a:r>
              <a:t>GRU finding: even with SOH, compressed 8-unit hidden state</a:t>
            </a:r>
            <a:br/>
            <a:r>
              <a:t>must share capacity across SOH, voltage, and cycle —</a:t>
            </a:r>
            <a:br/>
            <a:r>
              <a:t>under shift the entangled noise corrupts SOH signal.</a:t>
            </a:r>
            <a:br/>
            <a:br/>
            <a:r>
              <a:t>Tree-model isolated splits avoid this entirely —</a:t>
            </a:r>
            <a:br/>
            <a:r>
              <a:t>architecture design matters as much as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2743200"/>
          </a:xfrm>
          <a:prstGeom prst="round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2000" b="1">
                <a:solidFill>
                  <a:srgbClr val="E24A33"/>
                </a:solidFill>
                <a:latin typeface="Calibri"/>
              </a:defRPr>
            </a:pPr>
            <a:r>
              <a:t>SOH is not a transferable feature —</a:t>
            </a:r>
            <a:br/>
            <a:r>
              <a:t>it is a chemistry-specific</a:t>
            </a:r>
            <a:br/>
            <a:r>
              <a:t>capacity-to-RUL lookup table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32720" cy="2560320"/>
          </a:xfrm>
          <a:prstGeom prst="round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2800" b="1">
                <a:solidFill>
                  <a:srgbClr val="E24A33"/>
                </a:solidFill>
                <a:latin typeface="Calibri"/>
              </a:defRPr>
            </a:pPr>
            <a:r>
              <a:t>Cross-chemistry transfer of hazard-based battery</a:t>
            </a:r>
            <a:br/>
            <a:r>
              <a:t>failure prediction remains an open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Within-dataset reliability is strong (AUC ≥ 0.85, including GRU). But no model class — tree-based or sequence-aware — achieves genuine cross-chemistry transfer without SOH. Practitioners should not expect LCO-trained hazard models to generalize to LFP without chemistry-specific retraining or domain adaptation.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Oxford LFP: only 5 cells (partially mitigated by Severson LFP, 141 cells — reproduces all qualitative findings)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Cross-chemistry: unidirectional only (LCO→LFP); may not generalize to LCO→NMC, NMC→LFP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GRU cross-chem unstable across H (e.g., CALCE→Oxford ranges 0.022–0.978); mean-H reported in figures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Brier gap with published paper: published Brier 0.032 vs reproducible 0.17–0.26 (noted in discrepancy note)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Voltage sag feature dead for LFP: always at 2.7 V cutoff — no useful signal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Calibration fails under cross-chem distribution shift: isotonic collapses AUC (0.98→0.51), Platt unstable — raw AUC used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Promising directions: physics-informed features (ICA/DVA), few-shot fine-tuning, domain adaptation minimizing LCO↔LFP distribution gap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Train on larger multi-chemistry datasets with balanced cell counts across chemistries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Develop learned feature representations designed explicitly for chemistry invariance (e.g., domain-adversarial training)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Bidirectional transfer evaluation: LCO↔NMC, NMC↔LFP, LCO↔LFP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Sequence models with explicit invariance objectives (GRU tested — fails without SOH; need domain-adversarial)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Reproduce and close the Brier gap with the published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